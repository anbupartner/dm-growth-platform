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E6B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C21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Technical SEO</c:v>
                  </c:pt>
                  <c:pt idx="1">
                    <c:v>On-Page SEO</c:v>
                  </c:pt>
                  <c:pt idx="2">
                    <c:v>Content</c:v>
                  </c:pt>
                  <c:pt idx="3">
                    <c:v>UX &amp; Conversion</c:v>
                  </c:pt>
                  <c:pt idx="4">
                    <c:v>Branding</c:v>
                  </c:pt>
                  <c:pt idx="5">
                    <c:v>Local SEO</c:v>
                  </c:pt>
                  <c:pt idx="6">
                    <c:v>Performance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78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C21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D45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6B4C"/>
              </a:solidFill>
              <a:effectLst/>
            </c:spPr>
          </c:dPt>
          <c:dPt>
            <c:idx val="1"/>
            <c:bubble3D val="0"/>
            <c:spPr>
              <a:solidFill>
                <a:srgbClr val="8A6A35"/>
              </a:solidFill>
              <a:effectLst/>
            </c:spPr>
          </c:dPt>
          <c:dPt>
            <c:idx val="2"/>
            <c:bubble3D val="0"/>
            <c:spPr>
              <a:solidFill>
                <a:srgbClr val="3D454D"/>
              </a:solidFill>
              <a:effectLst/>
            </c:spPr>
          </c:dPt>
          <c:dPt>
            <c:idx val="3"/>
            <c:bubble3D val="0"/>
            <c:spPr>
              <a:solidFill>
                <a:srgbClr val="9AA2A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Google Search</c:v>
                </c:pt>
                <c:pt idx="1">
                  <c:v>Facebook</c:v>
                </c:pt>
                <c:pt idx="2">
                  <c:v>Google Display</c:v>
                </c:pt>
                <c:pt idx="3">
                  <c:v>WhatsApp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54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image" Target="../media/image-6-2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image" Target="../media/image-8-2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640080"/>
            <a:ext cx="914400" cy="9144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3" name="Image 0" descr="/home/claude/balwaan-deck/icons/trending-u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4" y="758952"/>
            <a:ext cx="676656" cy="676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2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GROWTH AUDIT &amp; STRATEGY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Balwaan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03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you are today — and where your digital growth can go next.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53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Anbarasan  ·  Your Growth Partner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Picture, Before The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6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6" name="Image 0" descr="/home/claude/balwaan-deck/icons/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1227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00600" y="1984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Position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technical and on-page foundation — an overall audit score of 84/100, with 5 of 7 categories scoring a perfect 100.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6F7F6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205740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2" name="Image 1" descr="/home/claude/balwaan-deck/icons/z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20" y="212278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41280" y="1984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2697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30175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gap is holding performance back: a 3.2-second server response time and incomplete image ALT text are limiting visibility and conversion.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6F7F6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8" name="Image 2" descr="/home/claude/balwaan-deck/icons/trending-u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31734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0060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489204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212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SEO and paid acquisition strategy, sequenced over 90 days and focused on qualified leads — not vanity traffic.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8932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6F7F6"/>
          </a:solidFill>
          <a:ln/>
        </p:spPr>
      </p:sp>
      <p:sp>
        <p:nvSpPr>
          <p:cNvPr id="23" name="Shape 18"/>
          <p:cNvSpPr/>
          <p:nvPr/>
        </p:nvSpPr>
        <p:spPr>
          <a:xfrm>
            <a:off x="6263640" y="425196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4" name="Image 3" descr="/home/claude/balwaan-deck/icons/compas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020" y="4317340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2412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 txBox="1"/>
          <p:nvPr/>
        </p:nvSpPr>
        <p:spPr>
          <a:xfrm>
            <a:off x="6263640" y="489204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Direction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6263640" y="5212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measurable journey from Search to Website to Enquiry to Customer, backed by Google Search, Facebook, Display and WhatsApp at INR 45,000/month.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HEALTH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Your Website Stand?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1C21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AUDIT SCORE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exists. Now we need to turn it into a stronger growth engine.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434840" y="1783080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Isn't Just The Website — It's The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2057400"/>
            <a:ext cx="1386840" cy="594360"/>
          </a:xfrm>
          <a:prstGeom prst="roundRect">
            <a:avLst>
              <a:gd name="adj" fmla="val 9231"/>
            </a:avLst>
          </a:prstGeom>
          <a:solidFill>
            <a:srgbClr val="F6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057400"/>
            <a:ext cx="1386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50" dirty="0"/>
          </a:p>
        </p:txBody>
      </p:sp>
      <p:pic>
        <p:nvPicPr>
          <p:cNvPr id="6" name="Image 0" descr="/home/claude/balwaan-deck/icons/arrow-right-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8632" y="2240280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65832" y="2057400"/>
            <a:ext cx="1386840" cy="594360"/>
          </a:xfrm>
          <a:prstGeom prst="roundRect">
            <a:avLst>
              <a:gd name="adj" fmla="val 9231"/>
            </a:avLst>
          </a:prstGeom>
          <a:solidFill>
            <a:srgbClr val="F6F7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65832" y="2057400"/>
            <a:ext cx="1386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50" dirty="0"/>
          </a:p>
        </p:txBody>
      </p:sp>
      <p:pic>
        <p:nvPicPr>
          <p:cNvPr id="9" name="Image 1" descr="/home/claude/balwaan-deck/icons/arrow-right-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672" y="224028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09872" y="2057400"/>
            <a:ext cx="1386840" cy="594360"/>
          </a:xfrm>
          <a:prstGeom prst="roundRect">
            <a:avLst>
              <a:gd name="adj" fmla="val 9231"/>
            </a:avLst>
          </a:prstGeom>
          <a:solidFill>
            <a:srgbClr val="F6F7F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309872" y="2057400"/>
            <a:ext cx="1386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50" dirty="0"/>
          </a:p>
        </p:txBody>
      </p:sp>
      <p:pic>
        <p:nvPicPr>
          <p:cNvPr id="12" name="Image 2" descr="/home/claude/balwaan-deck/icons/arrow-right-s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240280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53912" y="2057400"/>
            <a:ext cx="1386840" cy="594360"/>
          </a:xfrm>
          <a:prstGeom prst="roundRect">
            <a:avLst>
              <a:gd name="adj" fmla="val 9231"/>
            </a:avLst>
          </a:prstGeom>
          <a:solidFill>
            <a:srgbClr val="F6F7F6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153912" y="2057400"/>
            <a:ext cx="1386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250" dirty="0"/>
          </a:p>
        </p:txBody>
      </p:sp>
      <p:pic>
        <p:nvPicPr>
          <p:cNvPr id="15" name="Image 3" descr="/home/claude/balwaan-deck/icons/arrow-right-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752" y="224028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997952" y="2057400"/>
            <a:ext cx="1386840" cy="594360"/>
          </a:xfrm>
          <a:prstGeom prst="roundRect">
            <a:avLst>
              <a:gd name="adj" fmla="val 9231"/>
            </a:avLst>
          </a:prstGeom>
          <a:solidFill>
            <a:srgbClr val="F6F7F6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997952" y="2057400"/>
            <a:ext cx="1386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250" dirty="0"/>
          </a:p>
        </p:txBody>
      </p:sp>
      <p:pic>
        <p:nvPicPr>
          <p:cNvPr id="18" name="Image 4" descr="/home/claude/balwaan-deck/icons/arrow-right-su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792" y="2240280"/>
            <a:ext cx="256032" cy="25603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9841992" y="2057400"/>
            <a:ext cx="1386840" cy="594360"/>
          </a:xfrm>
          <a:prstGeom prst="roundRect">
            <a:avLst>
              <a:gd name="adj" fmla="val 9231"/>
            </a:avLst>
          </a:prstGeom>
          <a:solidFill>
            <a:srgbClr val="F6F7F6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9841992" y="2057400"/>
            <a:ext cx="1386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opportunity actually sits: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3" name="Image 5" descr="/home/claude/balwaan-deck/icons/search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" y="3579876"/>
            <a:ext cx="338328" cy="3383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43000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41148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rankings and Google Business Profile visibility are the entry point for local “near me” demand.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343400" y="3520440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7" name="Image 6" descr="/home/claude/balwaan-deck/icons/zap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2836" y="3579876"/>
            <a:ext cx="338328" cy="33832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937760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4343400" y="41148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3.2-second response time and missing image ALT text slow the page down before value is communicated.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8138160" y="3520440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31" name="Image 7" descr="/home/claude/balwaan-deck/icons/message-circle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7596" y="3579876"/>
            <a:ext cx="338328" cy="33832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732520" y="3538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8138160" y="411480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call-based enquiries need a consistent follow-up flow to convert into sales.</a:t>
            </a:r>
            <a:endParaRPr lang="en-US" sz="1150" dirty="0"/>
          </a:p>
        </p:txBody>
      </p:sp>
      <p:sp>
        <p:nvSpPr>
          <p:cNvPr id="34" name="Text 2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35" name="Text 25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DISCOVERED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Digital Opportunities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6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20824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6" name="Image 0" descr="/home/claude/balwaan-deck/icons/za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080260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0208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560320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response time measured at 3.2 seconds.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pages lose visitors before they see the offer.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technical performance — faster hosting, caching or a CDN.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6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6382512" y="2020824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1" name="Image 1" descr="/home/claude/balwaan-deck/icons/imag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48" y="2080260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9440" y="20208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Accessibility &amp; SEO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382512" y="2560320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of 87 images currently carry ALT text.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ALT text is a missed accessibility and SEO signal.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descriptive ALT text across the remaining images.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6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215384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6" name="Image 2" descr="/home/claude/balwaan-deck/icons/file-tex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4274820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2153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Depth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4754880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carries 1,793 words — more than double the 824-word competitor average.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strength that search engines and buyers reward.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leveraging this depth in ongoing content and messaging.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12648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6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382512" y="4215384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1" name="Image 3" descr="/home/claude/balwaan-deck/icons/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4274820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9440" y="42153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On-Page Foundation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382512" y="4754880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SEO, On-Page SEO, UX &amp; Conversion, Branding and Local SEO all score 100/100.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foundation is already in place to build on.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budget toward acquisition, not more foundational fixes.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MARKET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We Trying To Win?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6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B2C service customer — households and individuals actively searching for this service near them.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PROFILE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91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25–60 · homeowners/renters within Balwaan's local trade area in Tamil Nadu.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77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BEHAVIOUR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519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“near me” the moment a need arises, and compares reviews and ratings before booking.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9377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FACTORS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2120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 ·  Trust  ·  Availability  ·  Price/Value  ·  Convenience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764792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A CUSTOMER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384048" cy="38404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5" name="Image 0" descr="/home/claude/balwaan-deck/icons/map-pi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3526" y="2153046"/>
            <a:ext cx="284196" cy="28419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73952" y="2084832"/>
            <a:ext cx="5148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250" dirty="0"/>
          </a:p>
        </p:txBody>
      </p:sp>
      <p:pic>
        <p:nvPicPr>
          <p:cNvPr id="17" name="Image 1" descr="/home/claude/balwaan-deck/icons/arrow-down-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2523744"/>
            <a:ext cx="128016" cy="12801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943600" y="2724912"/>
            <a:ext cx="384048" cy="38404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9" name="Image 2" descr="/home/claude/balwaan-deck/icons/sear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526" y="2774838"/>
            <a:ext cx="284196" cy="2841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73952" y="2706624"/>
            <a:ext cx="5148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Maps</a:t>
            </a:r>
            <a:endParaRPr lang="en-US" sz="1250" dirty="0"/>
          </a:p>
        </p:txBody>
      </p:sp>
      <p:pic>
        <p:nvPicPr>
          <p:cNvPr id="21" name="Image 3" descr="/home/claude/balwaan-deck/icons/arrow-down-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3145536"/>
            <a:ext cx="128016" cy="12801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943600" y="3346704"/>
            <a:ext cx="384048" cy="38404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3" name="Image 4" descr="/home/claude/balwaan-deck/icons/star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526" y="3396630"/>
            <a:ext cx="284196" cy="2841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473952" y="3328416"/>
            <a:ext cx="5148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250" dirty="0"/>
          </a:p>
        </p:txBody>
      </p:sp>
      <p:pic>
        <p:nvPicPr>
          <p:cNvPr id="25" name="Image 5" descr="/home/claude/balwaan-deck/icons/arrow-down-su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3767328"/>
            <a:ext cx="128016" cy="12801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943600" y="3968496"/>
            <a:ext cx="384048" cy="38404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7" name="Image 6" descr="/home/claude/balwaan-deck/icons/phon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526" y="4018422"/>
            <a:ext cx="284196" cy="28419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473952" y="3950208"/>
            <a:ext cx="5148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Call · WhatsApp</a:t>
            </a:r>
            <a:endParaRPr lang="en-US" sz="1250" dirty="0"/>
          </a:p>
        </p:txBody>
      </p:sp>
      <p:pic>
        <p:nvPicPr>
          <p:cNvPr id="29" name="Image 7" descr="/home/claude/balwaan-deck/icons/arrow-down-su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616" y="4389120"/>
            <a:ext cx="128016" cy="128016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5943600" y="4590288"/>
            <a:ext cx="384048" cy="38404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31" name="Image 8" descr="/home/claude/balwaan-deck/icons/message-square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3526" y="4640214"/>
            <a:ext cx="284196" cy="2841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473952" y="4572000"/>
            <a:ext cx="5148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&amp; Follow-Up</a:t>
            </a:r>
            <a:endParaRPr lang="en-US" sz="1250" dirty="0"/>
          </a:p>
        </p:txBody>
      </p:sp>
      <p:pic>
        <p:nvPicPr>
          <p:cNvPr id="33" name="Image 9" descr="/home/claude/balwaan-deck/icons/arrow-down-su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1616" y="5010912"/>
            <a:ext cx="128016" cy="128016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5943600" y="5212080"/>
            <a:ext cx="384048" cy="38404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35" name="Image 10" descr="/home/claude/balwaan-deck/icons/thumbs-up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3526" y="5262006"/>
            <a:ext cx="284196" cy="284196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473952" y="5193792"/>
            <a:ext cx="5148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Referral</a:t>
            </a:r>
            <a:endParaRPr lang="en-US" sz="1250" dirty="0"/>
          </a:p>
        </p:txBody>
      </p:sp>
      <p:sp>
        <p:nvSpPr>
          <p:cNvPr id="37" name="Text 2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38" name="Text 25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/ MARKET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Competition Creates Pressure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4344" cy="3977640"/>
          </a:xfrm>
          <a:prstGeom prst="roundRect">
            <a:avLst>
              <a:gd name="adj" fmla="val 2082"/>
            </a:avLst>
          </a:prstGeom>
          <a:solidFill>
            <a:srgbClr val="1C21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8424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(YOU)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balwaan.com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Content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4436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1,793 words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18688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Resources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1985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94176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95344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169664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70832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45152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Secure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84632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120640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2180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7304" y="1783080"/>
            <a:ext cx="3514344" cy="3977640"/>
          </a:xfrm>
          <a:prstGeom prst="roundRect">
            <a:avLst>
              <a:gd name="adj" fmla="val 2082"/>
            </a:avLst>
          </a:prstGeom>
          <a:solidFill>
            <a:srgbClr val="F6F7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65904" y="198424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224028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kovaiclassicindustries.net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2743200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Content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65904" y="294436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 words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65904" y="3218688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Resources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65904" y="341985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65904" y="3694176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65904" y="3895344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65904" y="4169664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65904" y="4370832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65904" y="4645152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Secure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65904" y="484632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65904" y="5120640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65904" y="532180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25968" y="1783080"/>
            <a:ext cx="3514344" cy="3977640"/>
          </a:xfrm>
          <a:prstGeom prst="roundRect">
            <a:avLst>
              <a:gd name="adj" fmla="val 2082"/>
            </a:avLst>
          </a:prstGeom>
          <a:solidFill>
            <a:srgbClr val="F6F7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354568" y="198424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354568" y="224028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kisankraft.com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354568" y="2743200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Content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354568" y="294436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932 words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354568" y="3218688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Resources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354568" y="341985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354568" y="3694176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354568" y="3895344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354568" y="4169664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354568" y="4370832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354568" y="4645152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Secure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354568" y="4846320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354568" y="5120640"/>
            <a:ext cx="3057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354568" y="532180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0.47s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897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COMPETITOR OBSERVATIONS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144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opportunity to differentiate on content depth and capture more qualified demand.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STRATEGIC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Approach The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71930" y="1965960"/>
            <a:ext cx="566928" cy="56692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5" name="Image 0" descr="/home/claude/balwaan-deck/icons/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631" y="20396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51760"/>
            <a:ext cx="2013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20135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337560"/>
            <a:ext cx="19220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050" dirty="0"/>
          </a:p>
        </p:txBody>
      </p:sp>
      <p:pic>
        <p:nvPicPr>
          <p:cNvPr id="9" name="Image 1" descr="/home/claude/balwaan-deck/icons/arrow-right-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869" y="2148840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41471" y="1965960"/>
            <a:ext cx="566928" cy="56692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1" name="Image 2" descr="/home/claude/balwaan-deck/icons/targe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172" y="2039661"/>
            <a:ext cx="419527" cy="4195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18181" y="2651760"/>
            <a:ext cx="2013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2818181" y="2926080"/>
            <a:ext cx="20135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863901" y="3337560"/>
            <a:ext cx="19220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search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Display</a:t>
            </a:r>
            <a:endParaRPr lang="en-US" sz="1050" dirty="0"/>
          </a:p>
        </p:txBody>
      </p:sp>
      <p:pic>
        <p:nvPicPr>
          <p:cNvPr id="15" name="Image 3" descr="/home/claude/balwaan-deck/icons/arrow-right-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410" y="2148840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811012" y="1965960"/>
            <a:ext cx="566928" cy="56692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7" name="Image 4" descr="/home/claude/balwaan-deck/icons/za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713" y="2039661"/>
            <a:ext cx="419527" cy="41952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087722" y="2651760"/>
            <a:ext cx="2013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5087722" y="2926080"/>
            <a:ext cx="20135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133442" y="3337560"/>
            <a:ext cx="19220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landing pages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pic>
        <p:nvPicPr>
          <p:cNvPr id="21" name="Image 5" descr="/home/claude/balwaan-deck/icons/arrow-right-su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6950" y="2148840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080553" y="1965960"/>
            <a:ext cx="566928" cy="56692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3" name="Image 6" descr="/home/claude/balwaan-deck/icons/message-circl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4253" y="2039661"/>
            <a:ext cx="419527" cy="41952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357262" y="2651760"/>
            <a:ext cx="2013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7357262" y="2926080"/>
            <a:ext cx="20135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402982" y="3337560"/>
            <a:ext cx="19220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pic>
        <p:nvPicPr>
          <p:cNvPr id="27" name="Image 7" descr="/home/claude/balwaan-deck/icons/arrow-right-su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6491" y="2148840"/>
            <a:ext cx="164592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10350094" y="1965960"/>
            <a:ext cx="566928" cy="566928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9" name="Image 8" descr="/home/claude/balwaan-deck/icons/award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3794" y="2039661"/>
            <a:ext cx="419527" cy="419527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9626803" y="2651760"/>
            <a:ext cx="20135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9626803" y="2926080"/>
            <a:ext cx="20135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9672523" y="3337560"/>
            <a:ext cx="19220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referrals</a:t>
            </a:r>
            <a:endParaRPr lang="en-US" sz="1050" dirty="0"/>
          </a:p>
        </p:txBody>
      </p:sp>
      <p:sp>
        <p:nvSpPr>
          <p:cNvPr id="33" name="Text 2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should be able to see the entire strategy in ten seconds.</a:t>
            </a:r>
            <a:endParaRPr lang="en-US" sz="1150" dirty="0"/>
          </a:p>
        </p:txBody>
      </p:sp>
      <p:sp>
        <p:nvSpPr>
          <p:cNvPr id="34" name="Text 2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35" name="Text 24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 &amp; INVESTMENT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Will Focus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73736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6" name="Image 0" descr="/home/claude/balwaan-deck/icons/sear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80" y="1802740"/>
            <a:ext cx="372161" cy="3721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29400" y="17099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629400" y="197510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high-intent “near me” searches with local search ads.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405872" y="1709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405872" y="197510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18,000/mo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943600" y="269748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2" name="Image 1" descr="/home/claude/balwaan-deck/icons/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80" y="276286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29400" y="267004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629400" y="293522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qualified enquiries across the local service area.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0405872" y="26700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0405872" y="29352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13,500/mo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943600" y="365760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8" name="Image 2" descr="/home/claude/balwaan-deck/icons/monitor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80" y="372298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29400" y="363016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DISPLAY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389534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remarketing — stay visible to past site visitors.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0405872" y="3630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0405872" y="38953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9,000/mo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943600" y="461772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4" name="Image 3" descr="/home/claude/balwaan-deck/icons/message-circl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980" y="4683100"/>
            <a:ext cx="372161" cy="37216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629400" y="459028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629400" y="485546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Click-to-WhatsApp ads for direct, fast-reply conversations.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405872" y="4590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0405872" y="48554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4,500/mo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6F7F6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INVESTMENT   </a:t>
            </a:r>
            <a:pPr indent="0" marL="0">
              <a:buNone/>
            </a:pPr>
            <a:r>
              <a:rPr lang="en-US" sz="1400" b="1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45,000 / month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ACTION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Foundation To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83864" cy="3886200"/>
          </a:xfrm>
          <a:prstGeom prst="roundRect">
            <a:avLst>
              <a:gd name="adj" fmla="val 2100"/>
            </a:avLst>
          </a:prstGeom>
          <a:solidFill>
            <a:srgbClr val="F6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6" name="Image 0" descr="/home/claude/balwaan-deck/icons/lay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2599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2935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improvements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setup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 fixes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200" dirty="0"/>
          </a:p>
        </p:txBody>
      </p:sp>
      <p:pic>
        <p:nvPicPr>
          <p:cNvPr id="10" name="Image 1" descr="/home/claude/balwaan-deck/icons/arrow-right-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228" y="374904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52544" y="1920240"/>
            <a:ext cx="3483864" cy="3886200"/>
          </a:xfrm>
          <a:prstGeom prst="roundRect">
            <a:avLst>
              <a:gd name="adj" fmla="val 2100"/>
            </a:avLst>
          </a:prstGeom>
          <a:solidFill>
            <a:srgbClr val="F6F7F6"/>
          </a:solidFill>
          <a:ln/>
        </p:spPr>
      </p:sp>
      <p:sp>
        <p:nvSpPr>
          <p:cNvPr id="12" name="Shape 8"/>
          <p:cNvSpPr/>
          <p:nvPr/>
        </p:nvSpPr>
        <p:spPr>
          <a:xfrm>
            <a:off x="4626864" y="219456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3" name="Image 2" descr="/home/claude/balwaan-deck/icons/trending-u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244" y="225994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26864" y="283464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4626864" y="310896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626864" y="3703320"/>
            <a:ext cx="2935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optimisation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200" dirty="0"/>
          </a:p>
        </p:txBody>
      </p:sp>
      <p:pic>
        <p:nvPicPr>
          <p:cNvPr id="17" name="Image 3" descr="/home/claude/balwaan-deck/icons/arrow-right-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132" y="374904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56448" y="1920240"/>
            <a:ext cx="3483864" cy="3886200"/>
          </a:xfrm>
          <a:prstGeom prst="roundRect">
            <a:avLst>
              <a:gd name="adj" fmla="val 2100"/>
            </a:avLst>
          </a:prstGeom>
          <a:solidFill>
            <a:srgbClr val="F6F7F6"/>
          </a:solidFill>
          <a:ln/>
        </p:spPr>
      </p:sp>
      <p:sp>
        <p:nvSpPr>
          <p:cNvPr id="19" name="Shape 13"/>
          <p:cNvSpPr/>
          <p:nvPr/>
        </p:nvSpPr>
        <p:spPr>
          <a:xfrm>
            <a:off x="8430768" y="2194560"/>
            <a:ext cx="502920" cy="50292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20" name="Image 4" descr="/home/claude/balwaan-deck/icons/awar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148" y="2259940"/>
            <a:ext cx="372161" cy="37216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30768" y="283464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8430768" y="310896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8430768" y="3703320"/>
            <a:ext cx="2935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what's converting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ROAS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keywords/audiences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3D4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qualified leads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→  Launch  →  Optimise  →  Scale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26" name="Text 19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SUCCESS MEASUREMENT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Should Look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F6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6" name="Image 0" descr="/home/claude/balwaan-deck/icons/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0711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0116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 / mo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·  55.4× ROAS  ·  1,200 leads/mo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37304" y="178308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1C2126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2011680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1" name="Image 1" descr="/home/claude/balwaan-deck/icons/trending-u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60" y="20711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20116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65176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 / mo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·  81.5× ROAS  ·  1,500 leads/mo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8125968" y="178308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F6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0288" y="2011680"/>
            <a:ext cx="457200" cy="457200"/>
          </a:xfrm>
          <a:prstGeom prst="ellipse">
            <a:avLst/>
          </a:prstGeom>
          <a:solidFill>
            <a:srgbClr val="0E6B4C"/>
          </a:solidFill>
          <a:ln/>
        </p:spPr>
      </p:sp>
      <p:pic>
        <p:nvPicPr>
          <p:cNvPr id="16" name="Image 2" descr="/home/claude/balwaan-deck/icons/awar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24" y="207111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94648" y="201168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C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400288" y="265176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 / mo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·  112.4× ROAS  ·  1,800 leads/mo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886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WE WILL MONITOR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224528"/>
            <a:ext cx="1495958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48640" y="4224528"/>
            <a:ext cx="1495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Visibility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172614" y="4224528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2172614" y="422452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Rankings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571646" y="4224528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571646" y="422452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970678" y="4224528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970678" y="422452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369710" y="4224528"/>
            <a:ext cx="521208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369710" y="4224528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018934" y="4224528"/>
            <a:ext cx="1495958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7018934" y="4224528"/>
            <a:ext cx="1495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Enquiries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8642909" y="4224528"/>
            <a:ext cx="1121054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642909" y="4224528"/>
            <a:ext cx="11210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9891979" y="4224528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891979" y="422452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548640" y="4736592"/>
            <a:ext cx="446227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548640" y="4736592"/>
            <a:ext cx="4462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1122883" y="4736592"/>
            <a:ext cx="1720901" cy="384048"/>
          </a:xfrm>
          <a:prstGeom prst="roundRect">
            <a:avLst>
              <a:gd name="adj" fmla="val 50000"/>
            </a:avLst>
          </a:prstGeom>
          <a:solidFill>
            <a:srgbClr val="E6F2EC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1122883" y="4736592"/>
            <a:ext cx="17209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Opportunities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will depend on market demand, competition, media investment, website conversion performance and sales follow-up.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BALWAAN · GROWTH STRATEGY</a:t>
            </a:r>
            <a:endParaRPr lang="en-US" sz="850" dirty="0"/>
          </a:p>
        </p:txBody>
      </p:sp>
      <p:sp>
        <p:nvSpPr>
          <p:cNvPr id="42" name="Text 37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Right Growth Plan For Balwaan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9008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9272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goals, priorities &amp; challenges</a:t>
            </a:r>
            <a:endParaRPr lang="en-US" sz="1100" dirty="0"/>
          </a:p>
        </p:txBody>
      </p:sp>
      <p:pic>
        <p:nvPicPr>
          <p:cNvPr id="7" name="Image 0" descr="/home/claude/balwaan-deck/icons/arrow-righ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0228" y="25603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352544" y="242316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352544" y="299008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352544" y="3319272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audience, markets, budget &amp; KPIs</a:t>
            </a:r>
            <a:endParaRPr lang="en-US" sz="1100" dirty="0"/>
          </a:p>
        </p:txBody>
      </p:sp>
      <p:pic>
        <p:nvPicPr>
          <p:cNvPr id="11" name="Image 1" descr="/home/claude/balwaan-deck/icons/arrow-righ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132" y="256032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56448" y="242316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156448" y="299008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8156448" y="3319272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digital marketing strategy &amp; commercial proposal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3977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proposal will be prepared based on our meeting discussion, business priorities and agreed objectives.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709160"/>
            <a:ext cx="11091672" cy="0"/>
          </a:xfrm>
          <a:prstGeom prst="line">
            <a:avLst/>
          </a:prstGeom>
          <a:noFill/>
          <a:ln w="12700">
            <a:solidFill>
              <a:srgbClr val="3D45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2B3238"/>
          </a:solidFill>
          <a:ln/>
        </p:spPr>
      </p:sp>
      <p:pic>
        <p:nvPicPr>
          <p:cNvPr id="18" name="Image 2" descr="/home/claude/balwaan-deck/icons/pho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5033406"/>
            <a:ext cx="284196" cy="2841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8992" y="4983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+91 8122080143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251960" y="4983480"/>
            <a:ext cx="384048" cy="384048"/>
          </a:xfrm>
          <a:prstGeom prst="ellipse">
            <a:avLst/>
          </a:prstGeom>
          <a:solidFill>
            <a:srgbClr val="2B3238"/>
          </a:solidFill>
          <a:ln/>
        </p:spPr>
      </p:sp>
      <p:pic>
        <p:nvPicPr>
          <p:cNvPr id="21" name="Image 3" descr="/home/claude/balwaan-deck/icons/sen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886" y="5033406"/>
            <a:ext cx="284196" cy="2841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82312" y="4983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anbupartneritech@gmail.com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955280" y="4983480"/>
            <a:ext cx="384048" cy="384048"/>
          </a:xfrm>
          <a:prstGeom prst="ellipse">
            <a:avLst/>
          </a:prstGeom>
          <a:solidFill>
            <a:srgbClr val="2B3238"/>
          </a:solidFill>
          <a:ln/>
        </p:spPr>
      </p:sp>
      <p:pic>
        <p:nvPicPr>
          <p:cNvPr id="24" name="Image 4" descr="/home/claude/balwaan-deck/icons/lin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206" y="5033406"/>
            <a:ext cx="284196" cy="2841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485632" y="4983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linkedin.com/in/anbarasan-r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 is not simply to generate traffic.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to build a measurable system that creates qualified business opportunities.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439912" y="594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Anbarasan  ·  Your Growth Partner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90879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2026-09-07T13:40:27Z</dcterms:created>
  <dcterms:modified xsi:type="dcterms:W3CDTF">2026-09-07T13:40:27Z</dcterms:modified>
</cp:coreProperties>
</file>